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4" r:id="rId5"/>
    <p:sldId id="268" r:id="rId6"/>
    <p:sldId id="259" r:id="rId7"/>
    <p:sldId id="263" r:id="rId8"/>
    <p:sldId id="265" r:id="rId9"/>
    <p:sldId id="266" r:id="rId10"/>
    <p:sldId id="260" r:id="rId11"/>
    <p:sldId id="267" r:id="rId12"/>
    <p:sldId id="26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C8311-9192-476D-B8AC-69AA62E92F8D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356916-4258-4503-9458-5A097CBBB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497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56916-4258-4503-9458-5A097CBBB5B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649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56916-4258-4503-9458-5A097CBBB5B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009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E3FBA-1EBB-5A2D-2B99-6693BB7CC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15CDFF-0D57-FE00-5315-C1A66ED97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A58A11-9A72-72E4-ACB1-B146A9AE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916C-B679-40D6-BCA2-637F1476C5D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57F640-62FD-D105-1CB2-1166CAD71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B164A9-3515-855D-3096-6A8179AB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4303-99AD-4DDD-9AD2-BC9A73185B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21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10960-004D-E070-BD40-03863801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0E90F2-B666-3279-B10D-4FCB86739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F8889-AC75-0674-FC2D-24393F0E1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916C-B679-40D6-BCA2-637F1476C5D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828461-4AF0-DAA5-652E-FB70BFCF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DF5BAB-F570-3133-8751-155D2BD7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4303-99AD-4DDD-9AD2-BC9A73185B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825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018DE-139C-0D9E-FF10-74E63894C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5E25-0421-B115-A1B0-CF9D6AE5F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2D5CA0-7867-D8E2-310C-C5BD6175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916C-B679-40D6-BCA2-637F1476C5D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021FD2-FD4E-7B9A-6305-ABD802BA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958527-60CD-EA58-CD60-27B908CB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4303-99AD-4DDD-9AD2-BC9A73185B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74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CF0A9-7951-56FE-D818-DBD6CBAE2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9A5AB7-EB83-ADBF-768B-6EDE573A8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A9E98D-E970-B2F3-C509-ADDCAE435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E8A0AE-4659-74FB-1D8D-2A7A36A67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916C-B679-40D6-BCA2-637F1476C5D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56FFB8-42B3-A317-DA8D-A6FFDA53C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E53B66-1637-B9F4-2653-31C79935E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4303-99AD-4DDD-9AD2-BC9A73185B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360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ECA11A-810B-19B3-6021-C2AEF690C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E8381E-D9A1-5767-FD0A-9734F4F37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827407-EC11-1BE0-791C-9E78DD9CF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F8EA6B-3E50-B610-B9F5-B2759CF607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26C17D-F12F-9CA6-C931-D6610DA7EE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C0BFED-2D84-A6C6-69B3-06921FFAA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916C-B679-40D6-BCA2-637F1476C5D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2E8AD0-471D-9142-B42B-0DF6541C0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7FE8F5-97EE-E473-ECF9-A0A1FC888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4303-99AD-4DDD-9AD2-BC9A73185B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42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FC28B-B3F3-17F6-4415-402072A2F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16A9CA-253D-AE2E-EA98-EAA610572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916C-B679-40D6-BCA2-637F1476C5D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4C188E-5708-167F-EEEE-A249A21B0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E1507F-545F-06BE-D8BD-51DE1283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4303-99AD-4DDD-9AD2-BC9A73185B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030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0F4DF4-B6F4-0916-6EAD-B63E60A9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916C-B679-40D6-BCA2-637F1476C5D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B8CD220-82A9-BB47-DA9F-D4D67C10D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4644E7-DFB3-9B13-2E6A-89705CB6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4303-99AD-4DDD-9AD2-BC9A73185B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563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EB7E2-36C3-41C6-942C-69BA1F926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B57C6D-B7B3-5878-5F04-EB3B7D0A5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701FAB-E540-419A-2AF0-97D6C34F2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7E7E9-1F9E-B1E6-DB48-59728EA7F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916C-B679-40D6-BCA2-637F1476C5D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7B893A-AA49-A588-A2A9-6EA3C859C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460B48-E919-5FE3-678C-3D8347A8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4303-99AD-4DDD-9AD2-BC9A73185B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28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8D599-03E1-7DCE-5230-E54CF58BA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344537B-E654-1D62-DA34-0664271ADF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69F646-9913-F472-3227-0B3B3B1D9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D294C7-951D-8DA0-5F20-0C830E32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916C-B679-40D6-BCA2-637F1476C5D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48FBFF-41C1-0DBA-44C4-CC36AD4F5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A00D50-F446-2D59-2B70-C1AD8889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4303-99AD-4DDD-9AD2-BC9A73185B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826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BD55A9-B35B-098D-00A9-103B672C2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4AD37F-58D3-8DF2-0FA6-D510FD189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798F78-64D1-A2FE-DF24-003EE659F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916C-B679-40D6-BCA2-637F1476C5D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C937F8-737F-04A6-D885-F10E576A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28BB4C-8059-68FB-9F74-9B0CC442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4303-99AD-4DDD-9AD2-BC9A73185B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408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7243A7-DA1C-CDA5-8E68-311B37AC3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31996E-153D-C7F8-165D-802DC74BF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79C563-1296-8259-2F8D-CC2C35E51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916C-B679-40D6-BCA2-637F1476C5D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1FD604-626F-BBEF-740C-807F901B7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676C15-7358-63D1-B06E-9A0C869FA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4303-99AD-4DDD-9AD2-BC9A73185B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84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671372-94F2-8711-C049-F5857E56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018A39-09E7-C350-C179-D9935D4A0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6E17F-E306-9CF7-3B67-B410CF9D1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2916C-B679-40D6-BCA2-637F1476C5D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4935E8-3D4A-B9E9-6D6C-D09B01BB6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D86CC-0937-AE3D-4FE5-2ADE2E632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A4303-99AD-4DDD-9AD2-BC9A73185B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014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C37E4-F88E-87CE-8119-F540D1FE34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南方财富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</a:rPr>
              <a:t>Southern Money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221E4749-E282-32E0-7E2D-C79A938C4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4230" y="4829240"/>
            <a:ext cx="1363980" cy="1363980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72EACF5A-040C-6121-224F-03C5E278D1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8259" y="4800030"/>
            <a:ext cx="1422400" cy="1422400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7B17E23B-EB56-C943-AADD-A4365F738D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72920" y="4770820"/>
            <a:ext cx="1422400" cy="1422400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A30A2A2F-71C2-C71A-C448-D960E43369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44048" y="4839400"/>
            <a:ext cx="1315720" cy="1315720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4A6AF7A9-759F-B06A-1DD1-CB19D1489B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33157" y="4864841"/>
            <a:ext cx="1315720" cy="1315720"/>
          </a:xfrm>
          <a:prstGeom prst="rect">
            <a:avLst/>
          </a:prstGeom>
        </p:spPr>
      </p:pic>
      <p:pic>
        <p:nvPicPr>
          <p:cNvPr id="17" name="图形 16">
            <a:extLst>
              <a:ext uri="{FF2B5EF4-FFF2-40B4-BE49-F238E27FC236}">
                <a16:creationId xmlns:a16="http://schemas.microsoft.com/office/drawing/2014/main" id="{280F2DC8-5FC9-C9C9-3F0C-09F8ECF51F6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9962" y="4781789"/>
            <a:ext cx="1422400" cy="1422400"/>
          </a:xfrm>
          <a:prstGeom prst="rect">
            <a:avLst/>
          </a:prstGeom>
        </p:spPr>
      </p:pic>
      <p:pic>
        <p:nvPicPr>
          <p:cNvPr id="19" name="图形 18">
            <a:extLst>
              <a:ext uri="{FF2B5EF4-FFF2-40B4-BE49-F238E27FC236}">
                <a16:creationId xmlns:a16="http://schemas.microsoft.com/office/drawing/2014/main" id="{D053575A-8617-47B0-DB85-EDFEDC7057B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91417" y="4839400"/>
            <a:ext cx="1315720" cy="131572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81A1947-8F3D-C484-BB12-E2D28560CAC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61340" y="3509963"/>
            <a:ext cx="1076782" cy="1019507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29E71A13-2418-B99B-73F4-43B142ED100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876280" y="4817001"/>
            <a:ext cx="1315720" cy="131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9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D1FA435-A8DB-6FED-E1FA-0B960A13F9E7}"/>
              </a:ext>
            </a:extLst>
          </p:cNvPr>
          <p:cNvSpPr txBox="1"/>
          <p:nvPr/>
        </p:nvSpPr>
        <p:spPr>
          <a:xfrm>
            <a:off x="274320" y="441960"/>
            <a:ext cx="4805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一、简介与开发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41D074-853C-D4A2-FAC1-9753E2B28F63}"/>
              </a:ext>
            </a:extLst>
          </p:cNvPr>
          <p:cNvSpPr txBox="1"/>
          <p:nvPr/>
        </p:nvSpPr>
        <p:spPr>
          <a:xfrm>
            <a:off x="274320" y="1587533"/>
            <a:ext cx="113398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本质是一个“帖子与交易”的综合性应用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2BD048-5B6C-8F6B-3453-10FA76AF0B2A}"/>
              </a:ext>
            </a:extLst>
          </p:cNvPr>
          <p:cNvSpPr txBox="1"/>
          <p:nvPr/>
        </p:nvSpPr>
        <p:spPr>
          <a:xfrm>
            <a:off x="699061" y="5378188"/>
            <a:ext cx="5369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mic Sans MS" panose="030F0702030302020204" pitchFamily="66" charset="0"/>
                <a:ea typeface="微软雅黑" panose="020B0503020204020204" pitchFamily="34" charset="-122"/>
              </a:rPr>
              <a:t>前端：</a:t>
            </a: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</a:rPr>
              <a:t>Dart</a:t>
            </a:r>
            <a:r>
              <a:rPr lang="zh-CN" altLang="en-US" sz="2000" dirty="0">
                <a:latin typeface="Comic Sans MS" panose="030F0702030302020204" pitchFamily="66" charset="0"/>
                <a:ea typeface="微软雅黑" panose="020B0503020204020204" pitchFamily="34" charset="-122"/>
              </a:rPr>
              <a:t>语言</a:t>
            </a: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</a:rPr>
              <a:t> + Flutter</a:t>
            </a:r>
            <a:r>
              <a:rPr lang="zh-CN" altLang="en-US" sz="2000" dirty="0">
                <a:latin typeface="Comic Sans MS" panose="030F0702030302020204" pitchFamily="66" charset="0"/>
                <a:ea typeface="微软雅黑" panose="020B0503020204020204" pitchFamily="34" charset="-122"/>
              </a:rPr>
              <a:t>框架</a:t>
            </a:r>
            <a:endParaRPr lang="zh-CN" altLang="en-US" dirty="0">
              <a:latin typeface="Comic Sans MS" panose="030F0702030302020204" pitchFamily="66" charset="0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588FFC-31EF-19B3-5606-4883DA200EE8}"/>
              </a:ext>
            </a:extLst>
          </p:cNvPr>
          <p:cNvSpPr txBox="1"/>
          <p:nvPr/>
        </p:nvSpPr>
        <p:spPr>
          <a:xfrm>
            <a:off x="699061" y="5968072"/>
            <a:ext cx="55777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mic Sans MS" panose="030F0702030302020204" pitchFamily="66" charset="0"/>
                <a:ea typeface="微软雅黑" panose="020B0503020204020204" pitchFamily="34" charset="-122"/>
              </a:rPr>
              <a:t>后端：</a:t>
            </a: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</a:rPr>
              <a:t>C# + ASP.Net + Swagger</a:t>
            </a:r>
            <a:endParaRPr lang="zh-CN" altLang="en-US" sz="2000" dirty="0">
              <a:latin typeface="Comic Sans MS" panose="030F0702030302020204" pitchFamily="66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98C13E-337E-5D07-5C16-42BC7C71B0F7}"/>
              </a:ext>
            </a:extLst>
          </p:cNvPr>
          <p:cNvSpPr txBox="1"/>
          <p:nvPr/>
        </p:nvSpPr>
        <p:spPr>
          <a:xfrm>
            <a:off x="7308141" y="5000590"/>
            <a:ext cx="443427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</a:rPr>
              <a:t>SQLite, Postgres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代码管理</a:t>
            </a:r>
            <a:r>
              <a:rPr lang="zh-CN" altLang="en-US" sz="2000" dirty="0">
                <a:latin typeface="Comic Sans MS" panose="030F0702030302020204" pitchFamily="66" charset="0"/>
                <a:ea typeface="微软雅黑" panose="020B0503020204020204" pitchFamily="34" charset="-122"/>
              </a:rPr>
              <a:t>工具：</a:t>
            </a: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</a:rPr>
              <a:t>Git</a:t>
            </a:r>
          </a:p>
          <a:p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Comic Sans MS" panose="030F0702030302020204" pitchFamily="66" charset="0"/>
                <a:ea typeface="微软雅黑" panose="020B0503020204020204" pitchFamily="34" charset="-122"/>
              </a:rPr>
              <a:t>服务器：</a:t>
            </a: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latin typeface="Comic Sans MS" panose="030F0702030302020204" pitchFamily="66" charset="0"/>
                <a:ea typeface="微软雅黑" panose="020B0503020204020204" pitchFamily="34" charset="-122"/>
              </a:rPr>
              <a:t>核</a:t>
            </a:r>
            <a:r>
              <a:rPr lang="en-US" altLang="zh-CN" sz="2000" dirty="0">
                <a:latin typeface="Comic Sans MS" panose="030F0702030302020204" pitchFamily="66" charset="0"/>
                <a:ea typeface="微软雅黑" panose="020B0503020204020204" pitchFamily="34" charset="-122"/>
              </a:rPr>
              <a:t>CPU/8G</a:t>
            </a:r>
            <a:r>
              <a:rPr lang="zh-CN" altLang="en-US" sz="2000" dirty="0">
                <a:latin typeface="Comic Sans MS" panose="030F0702030302020204" pitchFamily="66" charset="0"/>
                <a:ea typeface="微软雅黑" panose="020B0503020204020204" pitchFamily="34" charset="-122"/>
              </a:rPr>
              <a:t>内存</a:t>
            </a:r>
          </a:p>
          <a:p>
            <a:endParaRPr lang="en-US" altLang="zh-CN" sz="2000" dirty="0">
              <a:latin typeface="Comic Sans MS" panose="030F0702030302020204" pitchFamily="66" charset="0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Comic Sans MS" panose="030F0702030302020204" pitchFamily="66" charset="0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37FCD33-758D-B17C-82DC-2CC8B2B112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229" b="6123"/>
          <a:stretch>
            <a:fillRect/>
          </a:stretch>
        </p:blipFill>
        <p:spPr>
          <a:xfrm>
            <a:off x="8276537" y="260136"/>
            <a:ext cx="3802696" cy="361514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20B411B-DB2D-C137-B46E-0A91A93DCE07}"/>
              </a:ext>
            </a:extLst>
          </p:cNvPr>
          <p:cNvSpPr txBox="1"/>
          <p:nvPr/>
        </p:nvSpPr>
        <p:spPr>
          <a:xfrm>
            <a:off x="274319" y="2551837"/>
            <a:ext cx="85130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社区论坛功能（用户可发布、浏览、管理帖子）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dirty="0">
                <a:latin typeface="Comic Sans MS" panose="030F0702030302020204" pitchFamily="66" charset="0"/>
                <a:ea typeface="微软雅黑" panose="020B0503020204020204" pitchFamily="34" charset="-122"/>
              </a:rPr>
              <a:t>CS:GO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枪械皮肤交易市场（商品分类、详情、发布与管理功能）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强大的用户登录认证、个人中心管理及管理员后台审核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其它非数据库交互的系统功能（主题颜色、动画时长、横竖屏适配等）</a:t>
            </a:r>
          </a:p>
        </p:txBody>
      </p:sp>
    </p:spTree>
    <p:extLst>
      <p:ext uri="{BB962C8B-B14F-4D97-AF65-F5344CB8AC3E}">
        <p14:creationId xmlns:p14="http://schemas.microsoft.com/office/powerpoint/2010/main" val="183094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0BE586F-7FE6-D69F-F262-2A2847D6B791}"/>
              </a:ext>
            </a:extLst>
          </p:cNvPr>
          <p:cNvSpPr txBox="1"/>
          <p:nvPr/>
        </p:nvSpPr>
        <p:spPr>
          <a:xfrm>
            <a:off x="274320" y="308702"/>
            <a:ext cx="662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二、主要功能与数据库设计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AB2C12-4601-EFE1-0161-28A8269DAD79}"/>
              </a:ext>
            </a:extLst>
          </p:cNvPr>
          <p:cNvSpPr txBox="1"/>
          <p:nvPr/>
        </p:nvSpPr>
        <p:spPr>
          <a:xfrm>
            <a:off x="304800" y="1492427"/>
            <a:ext cx="1889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帖子功能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A742B6-2F6D-1AA6-DB08-12848E86467F}"/>
              </a:ext>
            </a:extLst>
          </p:cNvPr>
          <p:cNvSpPr txBox="1"/>
          <p:nvPr/>
        </p:nvSpPr>
        <p:spPr>
          <a:xfrm>
            <a:off x="190500" y="3681110"/>
            <a:ext cx="18897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产品功能</a:t>
            </a:r>
            <a:endParaRPr lang="en-US" altLang="zh-CN" sz="2800" dirty="0"/>
          </a:p>
          <a:p>
            <a:pPr algn="ctr"/>
            <a:r>
              <a:rPr lang="zh-CN" altLang="en-US" sz="1400" dirty="0"/>
              <a:t>（饰品、金融产品等）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00B0AE-7B86-31BC-A4A2-62D4D9B79358}"/>
              </a:ext>
            </a:extLst>
          </p:cNvPr>
          <p:cNvSpPr txBox="1"/>
          <p:nvPr/>
        </p:nvSpPr>
        <p:spPr>
          <a:xfrm>
            <a:off x="274320" y="5683819"/>
            <a:ext cx="1889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用户功能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5FC1D4-9D9B-1A22-E122-FA1037FBA391}"/>
              </a:ext>
            </a:extLst>
          </p:cNvPr>
          <p:cNvSpPr txBox="1"/>
          <p:nvPr/>
        </p:nvSpPr>
        <p:spPr>
          <a:xfrm>
            <a:off x="2814457" y="549152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</a:rPr>
              <a:t>User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545CD5D-65E3-BC3E-1AF5-9A8D33831459}"/>
              </a:ext>
            </a:extLst>
          </p:cNvPr>
          <p:cNvSpPr txBox="1"/>
          <p:nvPr/>
        </p:nvSpPr>
        <p:spPr>
          <a:xfrm>
            <a:off x="2448697" y="5945429"/>
            <a:ext cx="178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omic Sans MS" panose="030F0702030302020204" pitchFamily="66" charset="0"/>
              </a:rPr>
              <a:t>UserAsset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81A3A32-F2B1-A52A-6A60-B3D14D19B592}"/>
              </a:ext>
            </a:extLst>
          </p:cNvPr>
          <p:cNvSpPr txBox="1"/>
          <p:nvPr/>
        </p:nvSpPr>
        <p:spPr>
          <a:xfrm>
            <a:off x="2677160" y="3429000"/>
            <a:ext cx="1534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omic Sans MS" panose="030F0702030302020204" pitchFamily="66" charset="0"/>
              </a:rPr>
              <a:t>Product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4E05385-EC10-8219-99D5-EAB4EFA708F0}"/>
              </a:ext>
            </a:extLst>
          </p:cNvPr>
          <p:cNvSpPr txBox="1"/>
          <p:nvPr/>
        </p:nvSpPr>
        <p:spPr>
          <a:xfrm>
            <a:off x="2194560" y="3784147"/>
            <a:ext cx="2479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</a:rPr>
              <a:t>TransactionRecord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EE9016-EE3A-32DB-646D-4F9BA812CA80}"/>
              </a:ext>
            </a:extLst>
          </p:cNvPr>
          <p:cNvSpPr txBox="1"/>
          <p:nvPr/>
        </p:nvSpPr>
        <p:spPr>
          <a:xfrm>
            <a:off x="2560320" y="4130513"/>
            <a:ext cx="142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omic Sans MS" panose="030F0702030302020204" pitchFamily="66" charset="0"/>
              </a:rPr>
              <a:t>UserAsset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FF0D0C5-0048-1EBA-EC85-BEE03B208680}"/>
              </a:ext>
            </a:extLst>
          </p:cNvPr>
          <p:cNvSpPr txBox="1"/>
          <p:nvPr/>
        </p:nvSpPr>
        <p:spPr>
          <a:xfrm>
            <a:off x="3011477" y="1039657"/>
            <a:ext cx="138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omic Sans MS" panose="030F0702030302020204" pitchFamily="66" charset="0"/>
              </a:rPr>
              <a:t>Post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486338E-C734-63F9-365E-C53F8DCA2AE3}"/>
              </a:ext>
            </a:extLst>
          </p:cNvPr>
          <p:cNvSpPr txBox="1"/>
          <p:nvPr/>
        </p:nvSpPr>
        <p:spPr>
          <a:xfrm>
            <a:off x="2772717" y="1306535"/>
            <a:ext cx="15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omic Sans MS" panose="030F0702030302020204" pitchFamily="66" charset="0"/>
              </a:rPr>
              <a:t>PostImage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161B2AB-BBAB-9D53-B6FF-3EBEBAC626B3}"/>
              </a:ext>
            </a:extLst>
          </p:cNvPr>
          <p:cNvSpPr txBox="1"/>
          <p:nvPr/>
        </p:nvSpPr>
        <p:spPr>
          <a:xfrm>
            <a:off x="2772717" y="1565115"/>
            <a:ext cx="170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</a:t>
            </a:r>
            <a:r>
              <a:rPr lang="zh-CN" altLang="en-US" dirty="0">
                <a:latin typeface="Comic Sans MS" panose="030F0702030302020204" pitchFamily="66" charset="0"/>
              </a:rPr>
              <a:t>PostTag 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EA84A34-94F4-3636-AA4A-E2551F3D6FDB}"/>
              </a:ext>
            </a:extLst>
          </p:cNvPr>
          <p:cNvSpPr txBox="1"/>
          <p:nvPr/>
        </p:nvSpPr>
        <p:spPr>
          <a:xfrm>
            <a:off x="2772717" y="1835287"/>
            <a:ext cx="2524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omic Sans MS" panose="030F0702030302020204" pitchFamily="66" charset="0"/>
              </a:rPr>
              <a:t>PostLike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60D8196-0489-D8A6-52C7-BF58A3F4E649}"/>
              </a:ext>
            </a:extLst>
          </p:cNvPr>
          <p:cNvSpPr txBox="1"/>
          <p:nvPr/>
        </p:nvSpPr>
        <p:spPr>
          <a:xfrm>
            <a:off x="2645717" y="2093867"/>
            <a:ext cx="218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omic Sans MS" panose="030F0702030302020204" pitchFamily="66" charset="0"/>
              </a:rPr>
              <a:t>PostFavorite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85AE379-C791-B9E2-38A0-DC5D6D505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155" y="0"/>
            <a:ext cx="3543448" cy="6858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C74C487-D25A-1BFA-C4EA-479AD9AB6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517" y="1306535"/>
            <a:ext cx="3543448" cy="97199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E21198F-5C66-AE25-B3D5-061D4FAF8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20" y="3609257"/>
            <a:ext cx="3869235" cy="107721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EE953B0-0097-AE63-C915-9CF169463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456" y="5350455"/>
            <a:ext cx="4076413" cy="107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1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3" grpId="0"/>
      <p:bldP spid="15" grpId="0"/>
      <p:bldP spid="19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94919A7-8CCE-FFB2-88F8-F96B312CF2A4}"/>
              </a:ext>
            </a:extLst>
          </p:cNvPr>
          <p:cNvSpPr txBox="1"/>
          <p:nvPr/>
        </p:nvSpPr>
        <p:spPr>
          <a:xfrm>
            <a:off x="274320" y="308702"/>
            <a:ext cx="662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二、主要功能与数据库设计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4F7877-1A74-B5FE-C114-CAA31153CF77}"/>
              </a:ext>
            </a:extLst>
          </p:cNvPr>
          <p:cNvSpPr txBox="1"/>
          <p:nvPr/>
        </p:nvSpPr>
        <p:spPr>
          <a:xfrm>
            <a:off x="5347883" y="890273"/>
            <a:ext cx="121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E-R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5965A63-BF20-F33D-2C45-C8F18F4766BC}"/>
              </a:ext>
            </a:extLst>
          </p:cNvPr>
          <p:cNvSpPr/>
          <p:nvPr/>
        </p:nvSpPr>
        <p:spPr>
          <a:xfrm>
            <a:off x="11520040" y="1287499"/>
            <a:ext cx="228600" cy="303028"/>
          </a:xfrm>
          <a:prstGeom prst="round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9657F31-5016-B914-AD9C-7594DF54D6DC}"/>
              </a:ext>
            </a:extLst>
          </p:cNvPr>
          <p:cNvSpPr txBox="1"/>
          <p:nvPr/>
        </p:nvSpPr>
        <p:spPr>
          <a:xfrm>
            <a:off x="126172" y="2478178"/>
            <a:ext cx="56083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关系示例：</a:t>
            </a:r>
            <a:endParaRPr lang="en-US" altLang="zh-CN" sz="1600" dirty="0">
              <a:latin typeface="Comic Sans MS" panose="030F0702030302020204" pitchFamily="66" charset="0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Post </a:t>
            </a:r>
            <a:r>
              <a:rPr lang="zh-CN" altLang="en-US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与 </a:t>
            </a: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PostImage </a:t>
            </a:r>
            <a:r>
              <a:rPr lang="zh-CN" altLang="en-US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是</a:t>
            </a: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 1:N </a:t>
            </a:r>
            <a:r>
              <a:rPr lang="zh-CN" altLang="en-US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关系</a:t>
            </a:r>
            <a:endParaRPr lang="en-US" altLang="zh-CN" sz="1600" dirty="0">
              <a:latin typeface="Comic Sans MS" panose="030F0702030302020204" pitchFamily="66" charset="0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Post </a:t>
            </a:r>
            <a:r>
              <a:rPr lang="zh-CN" altLang="en-US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与 </a:t>
            </a: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PostTag </a:t>
            </a:r>
            <a:r>
              <a:rPr lang="zh-CN" altLang="en-US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是</a:t>
            </a: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 N:N </a:t>
            </a:r>
            <a:r>
              <a:rPr lang="zh-CN" altLang="en-US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关系</a:t>
            </a:r>
            <a:endParaRPr lang="en-US" altLang="zh-CN" sz="1600" dirty="0">
              <a:latin typeface="Comic Sans MS" panose="030F0702030302020204" pitchFamily="66" charset="0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UserAsset </a:t>
            </a:r>
            <a:r>
              <a:rPr lang="zh-CN" altLang="en-US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与 </a:t>
            </a: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User </a:t>
            </a:r>
            <a:r>
              <a:rPr lang="zh-CN" altLang="en-US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是 </a:t>
            </a:r>
            <a:r>
              <a:rPr lang="en-US" altLang="zh-CN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1:1 </a:t>
            </a:r>
            <a:r>
              <a:rPr lang="zh-CN" altLang="en-US" sz="1600" dirty="0">
                <a:latin typeface="Comic Sans MS" panose="030F0702030302020204" pitchFamily="66" charset="0"/>
                <a:ea typeface="微软雅黑" panose="020B0503020204020204" pitchFamily="34" charset="-122"/>
              </a:rPr>
              <a:t>关系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F84CF92-229C-AB96-0F5B-022A46D9F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042" y="0"/>
            <a:ext cx="69893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0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1613CD5-5074-4421-EDD0-8F6E6B738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00" y="-83289"/>
            <a:ext cx="10431233" cy="702457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D62F615-0A8C-50E3-F77B-70AC62FBA3FB}"/>
              </a:ext>
            </a:extLst>
          </p:cNvPr>
          <p:cNvSpPr txBox="1"/>
          <p:nvPr/>
        </p:nvSpPr>
        <p:spPr>
          <a:xfrm>
            <a:off x="3123846" y="280349"/>
            <a:ext cx="662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二、主要功能与数据库设计</a:t>
            </a:r>
          </a:p>
        </p:txBody>
      </p:sp>
    </p:spTree>
    <p:extLst>
      <p:ext uri="{BB962C8B-B14F-4D97-AF65-F5344CB8AC3E}">
        <p14:creationId xmlns:p14="http://schemas.microsoft.com/office/powerpoint/2010/main" val="775981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D74F125-B6DB-DC56-D374-AE091488D713}"/>
              </a:ext>
            </a:extLst>
          </p:cNvPr>
          <p:cNvSpPr txBox="1"/>
          <p:nvPr/>
        </p:nvSpPr>
        <p:spPr>
          <a:xfrm>
            <a:off x="274320" y="441960"/>
            <a:ext cx="662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三、数据库优化策略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2A618BB-2C86-BAB3-8504-F0B0F3D5587F}"/>
              </a:ext>
            </a:extLst>
          </p:cNvPr>
          <p:cNvSpPr txBox="1"/>
          <p:nvPr/>
        </p:nvSpPr>
        <p:spPr>
          <a:xfrm>
            <a:off x="274320" y="2085505"/>
            <a:ext cx="5608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预加载：使用 </a:t>
            </a:r>
            <a:r>
              <a:rPr lang="en-US" altLang="zh-CN" sz="1200" i="1" dirty="0">
                <a:latin typeface="Comic Sans MS" panose="030F0702030302020204" pitchFamily="66" charset="0"/>
              </a:rPr>
              <a:t>Include()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200" i="1" dirty="0">
                <a:latin typeface="Comic Sans MS" panose="030F0702030302020204" pitchFamily="66" charset="0"/>
              </a:rPr>
              <a:t>ThenInclude()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加载关联实体，避免 </a:t>
            </a:r>
            <a:r>
              <a:rPr lang="en-US" altLang="zh-CN" sz="1400" dirty="0">
                <a:latin typeface="Comic Sans MS" panose="030F0702030302020204" pitchFamily="66" charset="0"/>
              </a:rPr>
              <a:t>N+1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查询问题，减少数据库查询次数；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7486EE65-EB9D-BFFA-9D56-6A248D66D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89" y="225375"/>
            <a:ext cx="3573779" cy="764205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E765EE53-75CA-8403-CEE0-D8AF392D6F4A}"/>
              </a:ext>
            </a:extLst>
          </p:cNvPr>
          <p:cNvSpPr txBox="1"/>
          <p:nvPr/>
        </p:nvSpPr>
        <p:spPr>
          <a:xfrm>
            <a:off x="330398" y="6050215"/>
            <a:ext cx="4038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认证与安全：密码安全和</a:t>
            </a:r>
            <a:r>
              <a:rPr lang="en-US" altLang="zh-CN" sz="1400" dirty="0">
                <a:latin typeface="Comic Sans MS" panose="030F0702030302020204" pitchFamily="66" charset="0"/>
              </a:rPr>
              <a:t>JWT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认证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EEB6BF1-C9CC-A2FE-806F-52195F4CBC97}"/>
              </a:ext>
            </a:extLst>
          </p:cNvPr>
          <p:cNvSpPr txBox="1"/>
          <p:nvPr/>
        </p:nvSpPr>
        <p:spPr>
          <a:xfrm>
            <a:off x="280868" y="4373408"/>
            <a:ext cx="5466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数据完整性：使用 </a:t>
            </a:r>
            <a:r>
              <a:rPr lang="en-US" altLang="zh-CN" sz="1200" i="1" dirty="0">
                <a:latin typeface="Comic Sans MS" panose="030F0702030302020204" pitchFamily="66" charset="0"/>
              </a:rPr>
              <a:t>IsDeleted</a:t>
            </a:r>
            <a:r>
              <a:rPr lang="en-US" altLang="zh-CN" sz="1100" i="1" dirty="0">
                <a:latin typeface="Comic Sans MS" panose="030F0702030302020204" pitchFamily="66" charset="0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字段标记已删除记录，而非物理删除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保留数据完整性，支持数据恢复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9AB8114-D72C-69DB-4594-72298A72C20F}"/>
              </a:ext>
            </a:extLst>
          </p:cNvPr>
          <p:cNvSpPr txBox="1"/>
          <p:nvPr/>
        </p:nvSpPr>
        <p:spPr>
          <a:xfrm>
            <a:off x="280868" y="5242589"/>
            <a:ext cx="5466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系统设计 ：通过存储库模式分离数据访问逻辑与业务逻辑，提高代码可维护性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F4B0D5-3CB6-9101-D4C0-292797C57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194" y="1087623"/>
            <a:ext cx="3426174" cy="11985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AD8C965-6870-C041-DF3C-ACC3EFB6C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1374" y="2399424"/>
            <a:ext cx="3426175" cy="15073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E4E1FF0-C6F4-14A6-C5FC-1DC8F8EC0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910" y="5086337"/>
            <a:ext cx="5103396" cy="41786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195FBF3-CAB1-1F4B-4715-E1563D0638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5910" y="5574899"/>
            <a:ext cx="5202848" cy="55481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3C4714B-2B8C-F6CF-4C9C-6C1EF7B9C5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4380" y="6205126"/>
            <a:ext cx="6528623" cy="52322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2189108-F36C-DB4B-2F59-52D520123A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5910" y="2418479"/>
            <a:ext cx="2229159" cy="254860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F266C69-C099-2A34-B1DB-5FFEF6D3231D}"/>
              </a:ext>
            </a:extLst>
          </p:cNvPr>
          <p:cNvSpPr txBox="1"/>
          <p:nvPr/>
        </p:nvSpPr>
        <p:spPr>
          <a:xfrm>
            <a:off x="274320" y="1518907"/>
            <a:ext cx="60951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分页：使用 </a:t>
            </a:r>
            <a:r>
              <a:rPr lang="en-US" altLang="zh-CN" sz="1200" i="1" dirty="0">
                <a:latin typeface="Comic Sans MS" panose="030F0702030302020204" pitchFamily="66" charset="0"/>
              </a:rPr>
              <a:t>Skip()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200" i="1" dirty="0">
                <a:latin typeface="Comic Sans MS" panose="030F0702030302020204" pitchFamily="66" charset="0"/>
              </a:rPr>
              <a:t>Take()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实现分页，避免全表扫描和内存溢出；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1B5BA8-D297-A45C-659E-837182B4AE38}"/>
              </a:ext>
            </a:extLst>
          </p:cNvPr>
          <p:cNvSpPr txBox="1"/>
          <p:nvPr/>
        </p:nvSpPr>
        <p:spPr>
          <a:xfrm>
            <a:off x="280868" y="3646499"/>
            <a:ext cx="60951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条件查询：使用 </a:t>
            </a:r>
            <a:r>
              <a:rPr lang="en-US" altLang="zh-CN" sz="1200" i="1" dirty="0">
                <a:latin typeface="Comic Sans MS" panose="030F0702030302020204" pitchFamily="66" charset="0"/>
              </a:rPr>
              <a:t>Where()</a:t>
            </a:r>
            <a:r>
              <a:rPr lang="en-US" altLang="zh-CN" sz="1400" dirty="0">
                <a:latin typeface="Comic Sans MS" panose="030F0702030302020204" pitchFamily="66" charset="0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子句过滤数据，减少返回结果集大小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FC1F1F6-A603-A87D-A423-775829D337AB}"/>
              </a:ext>
            </a:extLst>
          </p:cNvPr>
          <p:cNvSpPr txBox="1"/>
          <p:nvPr/>
        </p:nvSpPr>
        <p:spPr>
          <a:xfrm>
            <a:off x="280868" y="2864458"/>
            <a:ext cx="60951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延迟执行：使用 </a:t>
            </a:r>
            <a:r>
              <a:rPr lang="en-US" altLang="zh-CN" sz="1400" dirty="0">
                <a:latin typeface="Comic Sans MS" panose="030F0702030302020204" pitchFamily="66" charset="0"/>
              </a:rPr>
              <a:t>IQueryable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构建查询，在调用具体方法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200" i="1" dirty="0" err="1">
                <a:latin typeface="Comic Sans MS" panose="030F0702030302020204" pitchFamily="66" charset="0"/>
              </a:rPr>
              <a:t>CountAsync</a:t>
            </a:r>
            <a:r>
              <a:rPr lang="en-US" altLang="zh-CN" sz="1200" i="1" dirty="0">
                <a:latin typeface="Comic Sans MS" panose="030F0702030302020204" pitchFamily="66" charset="0"/>
              </a:rPr>
              <a:t>()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才执行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164A04C-4CD4-589E-5A6B-AEBDD53270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6969" y="4133527"/>
            <a:ext cx="3426175" cy="55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1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3" grpId="0"/>
      <p:bldP spid="36" grpId="0"/>
      <p:bldP spid="42" grpId="0"/>
      <p:bldP spid="12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A00C1-3735-A080-ED38-BB7A34E83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F0BB4D2-A616-7F78-1F22-92C223CDF2C6}"/>
              </a:ext>
            </a:extLst>
          </p:cNvPr>
          <p:cNvSpPr txBox="1"/>
          <p:nvPr/>
        </p:nvSpPr>
        <p:spPr>
          <a:xfrm>
            <a:off x="274320" y="441960"/>
            <a:ext cx="2957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四、前端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页面架构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DD50BF-C531-046F-5033-43238DE77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153" y="0"/>
            <a:ext cx="99538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01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8D036F8-8C37-3DF8-80CA-8DC7E9AC7175}"/>
              </a:ext>
            </a:extLst>
          </p:cNvPr>
          <p:cNvSpPr txBox="1"/>
          <p:nvPr/>
        </p:nvSpPr>
        <p:spPr>
          <a:xfrm>
            <a:off x="274320" y="441960"/>
            <a:ext cx="2957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五、系统架构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41AE43-1D20-10CA-D26C-E4D8DC7A0679}"/>
              </a:ext>
            </a:extLst>
          </p:cNvPr>
          <p:cNvSpPr txBox="1"/>
          <p:nvPr/>
        </p:nvSpPr>
        <p:spPr>
          <a:xfrm>
            <a:off x="138223" y="2050287"/>
            <a:ext cx="29576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前端层次架构（右）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后端层次架构（下）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D393269-CFE2-6589-E67F-88A0E801F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386" y="40236"/>
            <a:ext cx="9677400" cy="329154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B13B067-A8A1-3145-9BF5-ACFF5A9A0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19" y="3429000"/>
            <a:ext cx="12009362" cy="3291543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83AD476-5766-DB2A-39B1-76C29CED53D4}"/>
              </a:ext>
            </a:extLst>
          </p:cNvPr>
          <p:cNvSpPr/>
          <p:nvPr/>
        </p:nvSpPr>
        <p:spPr>
          <a:xfrm>
            <a:off x="11891575" y="3491271"/>
            <a:ext cx="209106" cy="272656"/>
          </a:xfrm>
          <a:prstGeom prst="round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440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163C9B6-4545-D006-E7A2-6FD1E9768005}"/>
              </a:ext>
            </a:extLst>
          </p:cNvPr>
          <p:cNvSpPr txBox="1"/>
          <p:nvPr/>
        </p:nvSpPr>
        <p:spPr>
          <a:xfrm>
            <a:off x="274320" y="441960"/>
            <a:ext cx="2957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五、系统架构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A23A76-67DA-2201-15B2-8BABA74AF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2" y="1076390"/>
            <a:ext cx="11968716" cy="96292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1C14792-867F-FCC8-B210-F5AD020F573A}"/>
              </a:ext>
            </a:extLst>
          </p:cNvPr>
          <p:cNvSpPr txBox="1"/>
          <p:nvPr/>
        </p:nvSpPr>
        <p:spPr>
          <a:xfrm>
            <a:off x="5154133" y="672792"/>
            <a:ext cx="173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后端架构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3ED7E33-0394-236F-4CDF-E9222975A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0" y="2545972"/>
            <a:ext cx="12021879" cy="162608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82C2869-8AC8-A60A-30C3-D18EC6391C4D}"/>
              </a:ext>
            </a:extLst>
          </p:cNvPr>
          <p:cNvSpPr txBox="1"/>
          <p:nvPr/>
        </p:nvSpPr>
        <p:spPr>
          <a:xfrm>
            <a:off x="5003947" y="2107976"/>
            <a:ext cx="20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JWT</a:t>
            </a:r>
            <a:r>
              <a:rPr lang="zh-CN" altLang="en-US" dirty="0"/>
              <a:t>认证流程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38A5EF8-887B-3011-49DE-7C84848D4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51" y="4492256"/>
            <a:ext cx="11243931" cy="2312581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45D4173-CAA5-1B51-2C33-1C50C0FABD19}"/>
              </a:ext>
            </a:extLst>
          </p:cNvPr>
          <p:cNvSpPr/>
          <p:nvPr/>
        </p:nvSpPr>
        <p:spPr>
          <a:xfrm>
            <a:off x="11787962" y="2545972"/>
            <a:ext cx="318977" cy="420512"/>
          </a:xfrm>
          <a:prstGeom prst="round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69B007D-594C-D690-9F10-8264912A04D1}"/>
              </a:ext>
            </a:extLst>
          </p:cNvPr>
          <p:cNvSpPr/>
          <p:nvPr/>
        </p:nvSpPr>
        <p:spPr>
          <a:xfrm>
            <a:off x="11366205" y="4517689"/>
            <a:ext cx="318977" cy="420512"/>
          </a:xfrm>
          <a:prstGeom prst="round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8CD56A-BA27-F580-BEA0-23F13B02DE37}"/>
              </a:ext>
            </a:extLst>
          </p:cNvPr>
          <p:cNvSpPr txBox="1"/>
          <p:nvPr/>
        </p:nvSpPr>
        <p:spPr>
          <a:xfrm>
            <a:off x="5003947" y="4148357"/>
            <a:ext cx="1822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  <a:buNone/>
            </a:pPr>
            <a:r>
              <a:rPr lang="zh-CN" altLang="en-US" dirty="0"/>
              <a:t>商品购买流程</a:t>
            </a:r>
          </a:p>
        </p:txBody>
      </p:sp>
    </p:spTree>
    <p:extLst>
      <p:ext uri="{BB962C8B-B14F-4D97-AF65-F5344CB8AC3E}">
        <p14:creationId xmlns:p14="http://schemas.microsoft.com/office/powerpoint/2010/main" val="121698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59C997A-D7D9-D587-73A6-8B15E69256EE}"/>
              </a:ext>
            </a:extLst>
          </p:cNvPr>
          <p:cNvSpPr txBox="1"/>
          <p:nvPr/>
        </p:nvSpPr>
        <p:spPr>
          <a:xfrm>
            <a:off x="274320" y="441960"/>
            <a:ext cx="662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六、项目演示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F232E6-7824-D79E-7DC2-FA05D80901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9" b="15194"/>
          <a:stretch>
            <a:fillRect/>
          </a:stretch>
        </p:blipFill>
        <p:spPr>
          <a:xfrm>
            <a:off x="4725161" y="3887372"/>
            <a:ext cx="4942648" cy="269503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D2A6372-3DE8-E127-9EDE-447230A65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574" y="3774558"/>
            <a:ext cx="2371859" cy="28255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4E3CB52-4016-A144-3F31-B94A8EBA0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882" y="275592"/>
            <a:ext cx="1897120" cy="344541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C709DB8-17C6-7D3A-DB19-D8A59CEC86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52" b="-1"/>
          <a:stretch>
            <a:fillRect/>
          </a:stretch>
        </p:blipFill>
        <p:spPr>
          <a:xfrm>
            <a:off x="94566" y="3887372"/>
            <a:ext cx="4572830" cy="264101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2808615-2D49-999E-A5DB-80578BA008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80041"/>
            <a:ext cx="5463882" cy="27409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B50B04F-B351-195D-ACEE-534D19CB2D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9432" y="69112"/>
            <a:ext cx="4796911" cy="365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70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>
            <a:extLst>
              <a:ext uri="{FF2B5EF4-FFF2-40B4-BE49-F238E27FC236}">
                <a16:creationId xmlns:a16="http://schemas.microsoft.com/office/drawing/2014/main" id="{EB6337C3-8E40-66F2-A04F-0B3FC36376E7}"/>
              </a:ext>
            </a:extLst>
          </p:cNvPr>
          <p:cNvSpPr/>
          <p:nvPr/>
        </p:nvSpPr>
        <p:spPr>
          <a:xfrm>
            <a:off x="7651022" y="2350587"/>
            <a:ext cx="2122037" cy="29204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64F8B93-B02F-5361-16A5-C18ADBDBD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16" y="14728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800" b="1" dirty="0"/>
              <a:t>部署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AC3C9BF-BF2D-C68F-43D4-04521CD537B3}"/>
              </a:ext>
            </a:extLst>
          </p:cNvPr>
          <p:cNvSpPr/>
          <p:nvPr/>
        </p:nvSpPr>
        <p:spPr>
          <a:xfrm>
            <a:off x="2289199" y="2658938"/>
            <a:ext cx="2020186" cy="73719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ASP.NET </a:t>
            </a:r>
            <a:r>
              <a:rPr lang="zh-CN" altLang="en-US" sz="2000" b="1" dirty="0"/>
              <a:t>后端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CE920D5-BE83-BB74-7F7E-470DF3015098}"/>
              </a:ext>
            </a:extLst>
          </p:cNvPr>
          <p:cNvSpPr/>
          <p:nvPr/>
        </p:nvSpPr>
        <p:spPr>
          <a:xfrm>
            <a:off x="1920154" y="3931412"/>
            <a:ext cx="2806995" cy="83688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Web</a:t>
            </a:r>
            <a:r>
              <a:rPr lang="zh-CN" altLang="en-US" sz="2000" b="1" dirty="0"/>
              <a:t>静态资源文件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(HTML,JS,CSS,WASM)</a:t>
            </a:r>
            <a:endParaRPr lang="zh-CN" altLang="en-US" sz="2000" b="1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3B40C06-0C02-5E18-3CF9-D4C3C5053E1A}"/>
              </a:ext>
            </a:extLst>
          </p:cNvPr>
          <p:cNvSpPr/>
          <p:nvPr/>
        </p:nvSpPr>
        <p:spPr>
          <a:xfrm>
            <a:off x="5712621" y="2660343"/>
            <a:ext cx="1984839" cy="7810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Nginx</a:t>
            </a:r>
            <a:endParaRPr lang="zh-CN" altLang="en-US" sz="2000" b="1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87173B1-D25B-0A81-1DD5-CC57B8FE7B4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>
            <a:off x="4309385" y="3027534"/>
            <a:ext cx="1403236" cy="23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DAFC1F5-6530-C4B1-A3E5-F3177B5B6CF2}"/>
              </a:ext>
            </a:extLst>
          </p:cNvPr>
          <p:cNvSpPr txBox="1"/>
          <p:nvPr/>
        </p:nvSpPr>
        <p:spPr>
          <a:xfrm>
            <a:off x="4529908" y="2615731"/>
            <a:ext cx="1154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HTTP1.1</a:t>
            </a:r>
            <a:endParaRPr lang="zh-CN" altLang="en-US" sz="2000" b="1" dirty="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3AC55F5-F776-6340-4A31-92EC1B05DCDE}"/>
              </a:ext>
            </a:extLst>
          </p:cNvPr>
          <p:cNvCxnSpPr>
            <a:cxnSpLocks/>
            <a:stCxn id="5" idx="3"/>
            <a:endCxn id="21" idx="2"/>
          </p:cNvCxnSpPr>
          <p:nvPr/>
        </p:nvCxnSpPr>
        <p:spPr>
          <a:xfrm>
            <a:off x="4727149" y="4349854"/>
            <a:ext cx="985471" cy="633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E97DA-20F0-AC3B-E814-4636C3AEE4E9}"/>
              </a:ext>
            </a:extLst>
          </p:cNvPr>
          <p:cNvSpPr txBox="1"/>
          <p:nvPr/>
        </p:nvSpPr>
        <p:spPr>
          <a:xfrm>
            <a:off x="5980594" y="5015632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托管静态文件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7288727-8673-BC77-DE6E-573866FF0F73}"/>
              </a:ext>
            </a:extLst>
          </p:cNvPr>
          <p:cNvSpPr/>
          <p:nvPr/>
        </p:nvSpPr>
        <p:spPr>
          <a:xfrm>
            <a:off x="9682279" y="2658652"/>
            <a:ext cx="2239926" cy="68726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用户：</a:t>
            </a:r>
            <a:r>
              <a:rPr lang="en-US" altLang="zh-CN" sz="2000" b="1" dirty="0"/>
              <a:t>Web</a:t>
            </a:r>
            <a:r>
              <a:rPr lang="zh-CN" altLang="en-US" sz="2000" b="1" dirty="0"/>
              <a:t>端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FD072D0-AA79-1651-03B6-DC403F6FEF64}"/>
              </a:ext>
            </a:extLst>
          </p:cNvPr>
          <p:cNvSpPr/>
          <p:nvPr/>
        </p:nvSpPr>
        <p:spPr>
          <a:xfrm>
            <a:off x="9728716" y="4266292"/>
            <a:ext cx="2239926" cy="68726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用户：原生端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50C4DF21-1739-15E4-5B99-D3E0CAB55FDC}"/>
              </a:ext>
            </a:extLst>
          </p:cNvPr>
          <p:cNvSpPr/>
          <p:nvPr/>
        </p:nvSpPr>
        <p:spPr>
          <a:xfrm>
            <a:off x="5712620" y="3994740"/>
            <a:ext cx="1984839" cy="8368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Nginx</a:t>
            </a:r>
            <a:endParaRPr lang="zh-CN" altLang="en-US" sz="2000" b="1" dirty="0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073C0A2-159A-881E-CA51-D1F8C8EA6743}"/>
              </a:ext>
            </a:extLst>
          </p:cNvPr>
          <p:cNvCxnSpPr>
            <a:stCxn id="21" idx="6"/>
            <a:endCxn id="17" idx="1"/>
          </p:cNvCxnSpPr>
          <p:nvPr/>
        </p:nvCxnSpPr>
        <p:spPr>
          <a:xfrm flipV="1">
            <a:off x="7697459" y="3002284"/>
            <a:ext cx="1984820" cy="141089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EDF81776-4DCD-ED4D-06B2-26C8B9206294}"/>
              </a:ext>
            </a:extLst>
          </p:cNvPr>
          <p:cNvCxnSpPr>
            <a:stCxn id="6" idx="6"/>
            <a:endCxn id="18" idx="1"/>
          </p:cNvCxnSpPr>
          <p:nvPr/>
        </p:nvCxnSpPr>
        <p:spPr>
          <a:xfrm>
            <a:off x="7697460" y="3050872"/>
            <a:ext cx="2031256" cy="1559052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E09F47AB-1A5E-CF0B-4887-2DF1BB3BB817}"/>
              </a:ext>
            </a:extLst>
          </p:cNvPr>
          <p:cNvCxnSpPr>
            <a:stCxn id="17" idx="1"/>
            <a:endCxn id="6" idx="6"/>
          </p:cNvCxnSpPr>
          <p:nvPr/>
        </p:nvCxnSpPr>
        <p:spPr>
          <a:xfrm flipH="1">
            <a:off x="7697460" y="3002284"/>
            <a:ext cx="1984819" cy="48588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3BF28C4A-1890-BEAD-B27D-5103F1A63996}"/>
              </a:ext>
            </a:extLst>
          </p:cNvPr>
          <p:cNvSpPr txBox="1"/>
          <p:nvPr/>
        </p:nvSpPr>
        <p:spPr>
          <a:xfrm>
            <a:off x="7579637" y="1692167"/>
            <a:ext cx="3323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HTTPS + HTTP2.0</a:t>
            </a:r>
            <a:r>
              <a:rPr lang="zh-CN" altLang="en-US" sz="2000" b="1" dirty="0"/>
              <a:t>高速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安全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2F280C0-CE42-151D-3D54-1FA45A11073F}"/>
              </a:ext>
            </a:extLst>
          </p:cNvPr>
          <p:cNvSpPr txBox="1"/>
          <p:nvPr/>
        </p:nvSpPr>
        <p:spPr>
          <a:xfrm rot="20455790">
            <a:off x="7597002" y="4350889"/>
            <a:ext cx="1749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获取</a:t>
            </a:r>
            <a:r>
              <a:rPr lang="en-US" altLang="zh-CN" sz="2000" b="1" dirty="0"/>
              <a:t>Web</a:t>
            </a:r>
            <a:r>
              <a:rPr lang="zh-CN" altLang="en-US" sz="2000" b="1" dirty="0"/>
              <a:t>页面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D4F4069-FFCF-5C83-B2AD-E8F4CAF55EF0}"/>
              </a:ext>
            </a:extLst>
          </p:cNvPr>
          <p:cNvSpPr txBox="1"/>
          <p:nvPr/>
        </p:nvSpPr>
        <p:spPr>
          <a:xfrm>
            <a:off x="7809299" y="2584363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Web API</a:t>
            </a:r>
            <a:endParaRPr lang="zh-CN" altLang="en-US" sz="2000" b="1" dirty="0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0311345A-E4F2-C378-6EBB-1B28C0E6F7E2}"/>
              </a:ext>
            </a:extLst>
          </p:cNvPr>
          <p:cNvSpPr/>
          <p:nvPr/>
        </p:nvSpPr>
        <p:spPr>
          <a:xfrm>
            <a:off x="35435" y="1896629"/>
            <a:ext cx="1605520" cy="74244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/>
              <a:t>Postgre</a:t>
            </a:r>
            <a:r>
              <a:rPr lang="en-US" altLang="zh-CN" sz="2000" b="1" dirty="0"/>
              <a:t> SQL</a:t>
            </a:r>
            <a:endParaRPr lang="zh-CN" altLang="en-US" sz="2000" b="1" dirty="0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949DCBD3-CCEF-9A70-6281-B12C0FBAA973}"/>
              </a:ext>
            </a:extLst>
          </p:cNvPr>
          <p:cNvSpPr/>
          <p:nvPr/>
        </p:nvSpPr>
        <p:spPr>
          <a:xfrm>
            <a:off x="202016" y="3252294"/>
            <a:ext cx="1438939" cy="74244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SQLite</a:t>
            </a:r>
            <a:endParaRPr lang="zh-CN" altLang="en-US" sz="2000" b="1" dirty="0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5494D543-EBA6-CE79-0A4F-7E72669C7B2F}"/>
              </a:ext>
            </a:extLst>
          </p:cNvPr>
          <p:cNvCxnSpPr>
            <a:cxnSpLocks/>
            <a:stCxn id="54" idx="6"/>
            <a:endCxn id="4" idx="1"/>
          </p:cNvCxnSpPr>
          <p:nvPr/>
        </p:nvCxnSpPr>
        <p:spPr>
          <a:xfrm>
            <a:off x="1640955" y="2267852"/>
            <a:ext cx="648244" cy="7596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EC058309-32EF-CA9F-5F5A-8A9C11D70670}"/>
              </a:ext>
            </a:extLst>
          </p:cNvPr>
          <p:cNvCxnSpPr>
            <a:stCxn id="55" idx="6"/>
            <a:endCxn id="4" idx="1"/>
          </p:cNvCxnSpPr>
          <p:nvPr/>
        </p:nvCxnSpPr>
        <p:spPr>
          <a:xfrm flipV="1">
            <a:off x="1640955" y="3027534"/>
            <a:ext cx="648244" cy="59598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290EE2F2-DE56-10C3-7596-DF57D98A4634}"/>
              </a:ext>
            </a:extLst>
          </p:cNvPr>
          <p:cNvSpPr txBox="1"/>
          <p:nvPr/>
        </p:nvSpPr>
        <p:spPr>
          <a:xfrm>
            <a:off x="308344" y="1331754"/>
            <a:ext cx="3145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PostgreSQL </a:t>
            </a:r>
            <a:r>
              <a:rPr lang="zh-CN" altLang="en-US" sz="2000" b="1" dirty="0"/>
              <a:t>用于生产环境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D2C0F92-1172-BCFD-CAC8-D9C643730AF8}"/>
              </a:ext>
            </a:extLst>
          </p:cNvPr>
          <p:cNvSpPr txBox="1"/>
          <p:nvPr/>
        </p:nvSpPr>
        <p:spPr>
          <a:xfrm>
            <a:off x="202015" y="4089279"/>
            <a:ext cx="1605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SQLite </a:t>
            </a:r>
            <a:r>
              <a:rPr lang="zh-CN" altLang="en-US" sz="2000" b="1" dirty="0"/>
              <a:t>用于开发环境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C011F38-B3FD-6F6D-E7A6-77336E8C327F}"/>
              </a:ext>
            </a:extLst>
          </p:cNvPr>
          <p:cNvSpPr txBox="1"/>
          <p:nvPr/>
        </p:nvSpPr>
        <p:spPr>
          <a:xfrm>
            <a:off x="6055672" y="214343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反向代理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9C822C7-E7C5-FBEB-5FBE-BA373B970503}"/>
              </a:ext>
            </a:extLst>
          </p:cNvPr>
          <p:cNvSpPr txBox="1"/>
          <p:nvPr/>
        </p:nvSpPr>
        <p:spPr>
          <a:xfrm>
            <a:off x="4737957" y="391461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文件访问</a:t>
            </a: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2197C9CA-33CA-48A9-034B-0CDE247322E4}"/>
              </a:ext>
            </a:extLst>
          </p:cNvPr>
          <p:cNvSpPr/>
          <p:nvPr/>
        </p:nvSpPr>
        <p:spPr>
          <a:xfrm>
            <a:off x="205202" y="5526246"/>
            <a:ext cx="1438939" cy="74244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Flutter</a:t>
            </a:r>
            <a:r>
              <a:rPr lang="zh-CN" altLang="en-US" sz="2000" b="1" dirty="0"/>
              <a:t>项目</a:t>
            </a: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22C52414-529C-654B-E92B-874A11AEE2DA}"/>
              </a:ext>
            </a:extLst>
          </p:cNvPr>
          <p:cNvCxnSpPr>
            <a:cxnSpLocks/>
            <a:stCxn id="73" idx="7"/>
            <a:endCxn id="5" idx="1"/>
          </p:cNvCxnSpPr>
          <p:nvPr/>
        </p:nvCxnSpPr>
        <p:spPr>
          <a:xfrm flipV="1">
            <a:off x="1433413" y="4349854"/>
            <a:ext cx="486741" cy="12851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8E77E4F6-B93A-E28D-5BDB-DB2162E70C95}"/>
              </a:ext>
            </a:extLst>
          </p:cNvPr>
          <p:cNvSpPr txBox="1"/>
          <p:nvPr/>
        </p:nvSpPr>
        <p:spPr>
          <a:xfrm>
            <a:off x="1642867" y="536427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编译</a:t>
            </a:r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C0D310C1-19BB-0125-7F4D-5B127D60977E}"/>
              </a:ext>
            </a:extLst>
          </p:cNvPr>
          <p:cNvCxnSpPr>
            <a:cxnSpLocks/>
            <a:stCxn id="73" idx="6"/>
            <a:endCxn id="87" idx="1"/>
          </p:cNvCxnSpPr>
          <p:nvPr/>
        </p:nvCxnSpPr>
        <p:spPr>
          <a:xfrm>
            <a:off x="1644141" y="5897469"/>
            <a:ext cx="1343607" cy="1888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94D85ADD-DA42-BC75-FB66-8C08AEB3E2B4}"/>
              </a:ext>
            </a:extLst>
          </p:cNvPr>
          <p:cNvSpPr/>
          <p:nvPr/>
        </p:nvSpPr>
        <p:spPr>
          <a:xfrm>
            <a:off x="2987748" y="5709367"/>
            <a:ext cx="6386624" cy="75399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Windows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Linux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Mac OS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Android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iOS</a:t>
            </a:r>
            <a:r>
              <a:rPr lang="zh-CN" altLang="en-US" sz="2000" b="1" dirty="0"/>
              <a:t>原生软件</a:t>
            </a: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BBBFED3-CEA6-3654-A874-5E8B04A1D3F1}"/>
              </a:ext>
            </a:extLst>
          </p:cNvPr>
          <p:cNvCxnSpPr>
            <a:cxnSpLocks/>
            <a:stCxn id="87" idx="3"/>
            <a:endCxn id="18" idx="2"/>
          </p:cNvCxnSpPr>
          <p:nvPr/>
        </p:nvCxnSpPr>
        <p:spPr>
          <a:xfrm flipV="1">
            <a:off x="9374372" y="4953556"/>
            <a:ext cx="1474307" cy="113281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>
            <a:extLst>
              <a:ext uri="{FF2B5EF4-FFF2-40B4-BE49-F238E27FC236}">
                <a16:creationId xmlns:a16="http://schemas.microsoft.com/office/drawing/2014/main" id="{4EA7D730-938E-09A3-932A-390DCA0D7613}"/>
              </a:ext>
            </a:extLst>
          </p:cNvPr>
          <p:cNvSpPr txBox="1"/>
          <p:nvPr/>
        </p:nvSpPr>
        <p:spPr>
          <a:xfrm>
            <a:off x="9958710" y="5528137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安装</a:t>
            </a:r>
          </a:p>
        </p:txBody>
      </p:sp>
    </p:spTree>
    <p:extLst>
      <p:ext uri="{BB962C8B-B14F-4D97-AF65-F5344CB8AC3E}">
        <p14:creationId xmlns:p14="http://schemas.microsoft.com/office/powerpoint/2010/main" val="80306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62E0B-60DE-E983-C403-3DC3B77E4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94FAA96-62E2-5BD2-0985-68DF26059435}"/>
              </a:ext>
            </a:extLst>
          </p:cNvPr>
          <p:cNvSpPr txBox="1"/>
          <p:nvPr/>
        </p:nvSpPr>
        <p:spPr>
          <a:xfrm>
            <a:off x="1683605" y="2802389"/>
            <a:ext cx="103754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latin typeface="Comic Sans MS" panose="030F0702030302020204" pitchFamily="66" charset="0"/>
                <a:ea typeface="微软雅黑" panose="020B0503020204020204" pitchFamily="34" charset="-122"/>
              </a:rPr>
              <a:t>Thanks for Your Listening</a:t>
            </a:r>
            <a:r>
              <a:rPr lang="zh-CN" altLang="en-US" sz="6000" dirty="0">
                <a:latin typeface="Comic Sans MS" panose="030F0702030302020204" pitchFamily="66" charset="0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4128177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445</Words>
  <Application>Microsoft Office PowerPoint</Application>
  <PresentationFormat>宽屏</PresentationFormat>
  <Paragraphs>81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等线 Light</vt:lpstr>
      <vt:lpstr>微软雅黑</vt:lpstr>
      <vt:lpstr>Arial</vt:lpstr>
      <vt:lpstr>Comic Sans MS</vt:lpstr>
      <vt:lpstr>Office 主题​​</vt:lpstr>
      <vt:lpstr>南方财富 Southern Money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部署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睿 侯</dc:creator>
  <cp:lastModifiedBy>7U 5</cp:lastModifiedBy>
  <cp:revision>282</cp:revision>
  <dcterms:created xsi:type="dcterms:W3CDTF">2025-12-15T06:13:30Z</dcterms:created>
  <dcterms:modified xsi:type="dcterms:W3CDTF">2025-12-18T04:10:03Z</dcterms:modified>
</cp:coreProperties>
</file>